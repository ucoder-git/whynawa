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394" r:id="rId3"/>
  </p:sldIdLst>
  <p:sldSz cx="10693400" cy="7740650"/>
  <p:notesSz cx="10693400" cy="77406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40" autoAdjust="0"/>
    <p:restoredTop sz="88786" autoAdjust="0"/>
  </p:normalViewPr>
  <p:slideViewPr>
    <p:cSldViewPr>
      <p:cViewPr varScale="1">
        <p:scale>
          <a:sx n="58" d="100"/>
          <a:sy n="58" d="100"/>
        </p:scale>
        <p:origin x="1853" y="2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873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873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BD1EF-AB42-4F09-9989-098E86748B57}" type="datetimeFigureOut">
              <a:rPr lang="ko-KR" altLang="en-US" smtClean="0"/>
              <a:t>2025-06-03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68375"/>
            <a:ext cx="3606800" cy="26114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69975" y="3725863"/>
            <a:ext cx="8553450" cy="3048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7353300"/>
            <a:ext cx="4633913" cy="387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057900" y="7353300"/>
            <a:ext cx="4632325" cy="387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C870A-4539-4693-8656-12BB472455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01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C870A-4539-4693-8656-12BB472455D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25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99601"/>
            <a:ext cx="9089390" cy="1625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76057"/>
                </a:solidFill>
                <a:latin typeface="Adobe Gothic Std B"/>
                <a:cs typeface="Adobe Gothic Std B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334764"/>
            <a:ext cx="7485380" cy="1935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C125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55" dirty="0"/>
              <a:t>SONO</a:t>
            </a:r>
            <a:r>
              <a:rPr spc="35" dirty="0"/>
              <a:t> </a:t>
            </a:r>
            <a:r>
              <a:rPr spc="-45" dirty="0"/>
              <a:t>HOTELS</a:t>
            </a:r>
            <a:r>
              <a:rPr spc="35" dirty="0"/>
              <a:t> </a:t>
            </a:r>
            <a:r>
              <a:rPr spc="-165" dirty="0"/>
              <a:t>&amp;</a:t>
            </a:r>
            <a:r>
              <a:rPr spc="40" dirty="0"/>
              <a:t> </a:t>
            </a:r>
            <a:r>
              <a:rPr spc="-55" dirty="0"/>
              <a:t>RESORTS</a:t>
            </a:r>
            <a:r>
              <a:rPr spc="35" dirty="0"/>
              <a:t> </a:t>
            </a:r>
            <a:r>
              <a:rPr spc="-80" dirty="0"/>
              <a:t>MEMBERSHIP</a:t>
            </a:r>
            <a:r>
              <a:rPr spc="40" dirty="0"/>
              <a:t> </a:t>
            </a:r>
            <a:r>
              <a:rPr spc="-10" dirty="0"/>
              <a:t>INFO.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76057"/>
                </a:solidFill>
                <a:latin typeface="Adobe Gothic Std B"/>
                <a:cs typeface="Adobe Gothic Std B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C125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55" dirty="0"/>
              <a:t>SONO</a:t>
            </a:r>
            <a:r>
              <a:rPr spc="35" dirty="0"/>
              <a:t> </a:t>
            </a:r>
            <a:r>
              <a:rPr spc="-45" dirty="0"/>
              <a:t>HOTELS</a:t>
            </a:r>
            <a:r>
              <a:rPr spc="35" dirty="0"/>
              <a:t> </a:t>
            </a:r>
            <a:r>
              <a:rPr spc="-165" dirty="0"/>
              <a:t>&amp;</a:t>
            </a:r>
            <a:r>
              <a:rPr spc="40" dirty="0"/>
              <a:t> </a:t>
            </a:r>
            <a:r>
              <a:rPr spc="-55" dirty="0"/>
              <a:t>RESORTS</a:t>
            </a:r>
            <a:r>
              <a:rPr spc="35" dirty="0"/>
              <a:t> </a:t>
            </a:r>
            <a:r>
              <a:rPr spc="-80" dirty="0"/>
              <a:t>MEMBERSHIP</a:t>
            </a:r>
            <a:r>
              <a:rPr spc="40" dirty="0"/>
              <a:t> </a:t>
            </a:r>
            <a:r>
              <a:rPr spc="-10" dirty="0"/>
              <a:t>INFO.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76057"/>
                </a:solidFill>
                <a:latin typeface="Adobe Gothic Std B"/>
                <a:cs typeface="Adobe Gothic Std B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80349"/>
            <a:ext cx="4651629" cy="5108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80349"/>
            <a:ext cx="4651629" cy="5108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C125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55" dirty="0"/>
              <a:t>SONO</a:t>
            </a:r>
            <a:r>
              <a:rPr spc="35" dirty="0"/>
              <a:t> </a:t>
            </a:r>
            <a:r>
              <a:rPr spc="-45" dirty="0"/>
              <a:t>HOTELS</a:t>
            </a:r>
            <a:r>
              <a:rPr spc="35" dirty="0"/>
              <a:t> </a:t>
            </a:r>
            <a:r>
              <a:rPr spc="-165" dirty="0"/>
              <a:t>&amp;</a:t>
            </a:r>
            <a:r>
              <a:rPr spc="40" dirty="0"/>
              <a:t> </a:t>
            </a:r>
            <a:r>
              <a:rPr spc="-55" dirty="0"/>
              <a:t>RESORTS</a:t>
            </a:r>
            <a:r>
              <a:rPr spc="35" dirty="0"/>
              <a:t> </a:t>
            </a:r>
            <a:r>
              <a:rPr spc="-80" dirty="0"/>
              <a:t>MEMBERSHIP</a:t>
            </a:r>
            <a:r>
              <a:rPr spc="40" dirty="0"/>
              <a:t> </a:t>
            </a:r>
            <a:r>
              <a:rPr spc="-10" dirty="0"/>
              <a:t>INFO.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"/>
            <a:ext cx="10692130" cy="7740015"/>
          </a:xfrm>
          <a:custGeom>
            <a:avLst/>
            <a:gdLst/>
            <a:ahLst/>
            <a:cxnLst/>
            <a:rect l="l" t="t" r="r" b="b"/>
            <a:pathLst>
              <a:path w="10692130" h="7740015">
                <a:moveTo>
                  <a:pt x="10692003" y="0"/>
                </a:moveTo>
                <a:lnTo>
                  <a:pt x="0" y="0"/>
                </a:lnTo>
                <a:lnTo>
                  <a:pt x="0" y="7739989"/>
                </a:lnTo>
                <a:lnTo>
                  <a:pt x="10692003" y="7739989"/>
                </a:lnTo>
                <a:lnTo>
                  <a:pt x="10692003" y="0"/>
                </a:lnTo>
                <a:close/>
              </a:path>
            </a:pathLst>
          </a:custGeom>
          <a:solidFill>
            <a:srgbClr val="B1A9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76057"/>
                </a:solidFill>
                <a:latin typeface="Adobe Gothic Std B"/>
                <a:cs typeface="Adobe Gothic Std B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C125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55" dirty="0"/>
              <a:t>SONO</a:t>
            </a:r>
            <a:r>
              <a:rPr spc="35" dirty="0"/>
              <a:t> </a:t>
            </a:r>
            <a:r>
              <a:rPr spc="-45" dirty="0"/>
              <a:t>HOTELS</a:t>
            </a:r>
            <a:r>
              <a:rPr spc="35" dirty="0"/>
              <a:t> </a:t>
            </a:r>
            <a:r>
              <a:rPr spc="-165" dirty="0"/>
              <a:t>&amp;</a:t>
            </a:r>
            <a:r>
              <a:rPr spc="40" dirty="0"/>
              <a:t> </a:t>
            </a:r>
            <a:r>
              <a:rPr spc="-55" dirty="0"/>
              <a:t>RESORTS</a:t>
            </a:r>
            <a:r>
              <a:rPr spc="35" dirty="0"/>
              <a:t> </a:t>
            </a:r>
            <a:r>
              <a:rPr spc="-80" dirty="0"/>
              <a:t>MEMBERSHIP</a:t>
            </a:r>
            <a:r>
              <a:rPr spc="40" dirty="0"/>
              <a:t> </a:t>
            </a:r>
            <a:r>
              <a:rPr spc="-10" dirty="0"/>
              <a:t>INFO.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C125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55" dirty="0"/>
              <a:t>SONO</a:t>
            </a:r>
            <a:r>
              <a:rPr spc="35" dirty="0"/>
              <a:t> </a:t>
            </a:r>
            <a:r>
              <a:rPr spc="-45" dirty="0"/>
              <a:t>HOTELS</a:t>
            </a:r>
            <a:r>
              <a:rPr spc="35" dirty="0"/>
              <a:t> </a:t>
            </a:r>
            <a:r>
              <a:rPr spc="-165" dirty="0"/>
              <a:t>&amp;</a:t>
            </a:r>
            <a:r>
              <a:rPr spc="40" dirty="0"/>
              <a:t> </a:t>
            </a:r>
            <a:r>
              <a:rPr spc="-55" dirty="0"/>
              <a:t>RESORTS</a:t>
            </a:r>
            <a:r>
              <a:rPr spc="35" dirty="0"/>
              <a:t> </a:t>
            </a:r>
            <a:r>
              <a:rPr spc="-80" dirty="0"/>
              <a:t>MEMBERSHIP</a:t>
            </a:r>
            <a:r>
              <a:rPr spc="40" dirty="0"/>
              <a:t> </a:t>
            </a:r>
            <a:r>
              <a:rPr spc="-10" dirty="0"/>
              <a:t>INFO.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806" y="1018505"/>
            <a:ext cx="3748628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76057"/>
                </a:solidFill>
                <a:latin typeface="Adobe Gothic Std B"/>
                <a:cs typeface="Adobe Gothic Std B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3998" y="1853999"/>
            <a:ext cx="8784590" cy="4817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41299" y="6901041"/>
            <a:ext cx="196913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C1252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55" dirty="0"/>
              <a:t>SONO</a:t>
            </a:r>
            <a:r>
              <a:rPr spc="35" dirty="0"/>
              <a:t> </a:t>
            </a:r>
            <a:r>
              <a:rPr spc="-45" dirty="0"/>
              <a:t>HOTELS</a:t>
            </a:r>
            <a:r>
              <a:rPr spc="35" dirty="0"/>
              <a:t> </a:t>
            </a:r>
            <a:r>
              <a:rPr spc="-165" dirty="0"/>
              <a:t>&amp;</a:t>
            </a:r>
            <a:r>
              <a:rPr spc="40" dirty="0"/>
              <a:t> </a:t>
            </a:r>
            <a:r>
              <a:rPr spc="-55" dirty="0"/>
              <a:t>RESORTS</a:t>
            </a:r>
            <a:r>
              <a:rPr spc="35" dirty="0"/>
              <a:t> </a:t>
            </a:r>
            <a:r>
              <a:rPr spc="-80" dirty="0"/>
              <a:t>MEMBERSHIP</a:t>
            </a:r>
            <a:r>
              <a:rPr spc="40" dirty="0"/>
              <a:t> </a:t>
            </a:r>
            <a:r>
              <a:rPr spc="-10" dirty="0"/>
              <a:t>INFO.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198804"/>
            <a:ext cx="2459482" cy="387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198804"/>
            <a:ext cx="2459482" cy="387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5"/>
            <a:ext cx="10692130" cy="7740015"/>
          </a:xfrm>
          <a:custGeom>
            <a:avLst/>
            <a:gdLst/>
            <a:ahLst/>
            <a:cxnLst/>
            <a:rect l="l" t="t" r="r" b="b"/>
            <a:pathLst>
              <a:path w="10692130" h="7740015">
                <a:moveTo>
                  <a:pt x="10692003" y="0"/>
                </a:moveTo>
                <a:lnTo>
                  <a:pt x="0" y="0"/>
                </a:lnTo>
                <a:lnTo>
                  <a:pt x="0" y="7739989"/>
                </a:lnTo>
                <a:lnTo>
                  <a:pt x="10692003" y="7739989"/>
                </a:lnTo>
                <a:lnTo>
                  <a:pt x="10692003" y="0"/>
                </a:lnTo>
                <a:close/>
              </a:path>
            </a:pathLst>
          </a:custGeom>
          <a:solidFill>
            <a:srgbClr val="3C12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68763" y="4140649"/>
            <a:ext cx="7135536" cy="260712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730"/>
              </a:spcBef>
            </a:pPr>
            <a:r>
              <a:rPr lang="ko-KR" altLang="en-US" sz="2800" spc="-30" dirty="0">
                <a:solidFill>
                  <a:srgbClr val="FFFFFF"/>
                </a:solidFill>
                <a:latin typeface="Adobe Gothic Std L"/>
                <a:cs typeface="Adobe Gothic Std L"/>
              </a:rPr>
              <a:t>동물병원 응급 </a:t>
            </a:r>
            <a:r>
              <a:rPr lang="en-US" altLang="ko-KR" sz="2800" spc="-30" dirty="0">
                <a:solidFill>
                  <a:srgbClr val="FFFFFF"/>
                </a:solidFill>
                <a:latin typeface="Adobe Gothic Std L"/>
                <a:cs typeface="Adobe Gothic Std L"/>
              </a:rPr>
              <a:t>24</a:t>
            </a:r>
            <a:r>
              <a:rPr lang="ko-KR" altLang="en-US" sz="2800" spc="-30" dirty="0">
                <a:solidFill>
                  <a:srgbClr val="FFFFFF"/>
                </a:solidFill>
                <a:latin typeface="Adobe Gothic Std L"/>
                <a:cs typeface="Adobe Gothic Std L"/>
              </a:rPr>
              <a:t>시 이송 지원 서비스</a:t>
            </a:r>
            <a:endParaRPr lang="en-US" altLang="ko-KR" sz="2800" spc="-30" dirty="0">
              <a:solidFill>
                <a:srgbClr val="FFFFFF"/>
              </a:solidFill>
              <a:latin typeface="Adobe Gothic Std L"/>
              <a:cs typeface="Adobe Gothic Std L"/>
            </a:endParaRPr>
          </a:p>
          <a:p>
            <a:pPr marL="5080" algn="ctr">
              <a:lnSpc>
                <a:spcPct val="100000"/>
              </a:lnSpc>
              <a:spcBef>
                <a:spcPts val="730"/>
              </a:spcBef>
            </a:pPr>
            <a:r>
              <a:rPr lang="ko-KR" altLang="en-US" sz="2800" spc="-30" dirty="0">
                <a:solidFill>
                  <a:srgbClr val="FFFFFF"/>
                </a:solidFill>
                <a:latin typeface="Adobe Gothic Std L"/>
                <a:cs typeface="Adobe Gothic Std L"/>
              </a:rPr>
              <a:t> </a:t>
            </a:r>
            <a:r>
              <a:rPr lang="en-US" altLang="ko-KR" sz="2800" spc="-30" dirty="0">
                <a:solidFill>
                  <a:srgbClr val="FFFFFF"/>
                </a:solidFill>
                <a:latin typeface="Adobe Gothic Std L"/>
                <a:cs typeface="Adobe Gothic Std L"/>
              </a:rPr>
              <a:t>&amp; </a:t>
            </a:r>
          </a:p>
          <a:p>
            <a:pPr marL="5080" algn="ctr">
              <a:lnSpc>
                <a:spcPct val="100000"/>
              </a:lnSpc>
              <a:spcBef>
                <a:spcPts val="730"/>
              </a:spcBef>
            </a:pPr>
            <a:r>
              <a:rPr lang="ko-KR" altLang="en-US" sz="2800" spc="-30" dirty="0">
                <a:solidFill>
                  <a:srgbClr val="FFFFFF"/>
                </a:solidFill>
                <a:latin typeface="Adobe Gothic Std L"/>
                <a:cs typeface="Adobe Gothic Std L"/>
              </a:rPr>
              <a:t>반려동물 장례 토탈 케어  지원 서비스  </a:t>
            </a:r>
            <a:endParaRPr lang="en-US" altLang="ko-KR" sz="2800" spc="-30" dirty="0">
              <a:solidFill>
                <a:srgbClr val="FFFFFF"/>
              </a:solidFill>
              <a:latin typeface="Adobe Gothic Std L"/>
              <a:cs typeface="Adobe Gothic Std L"/>
            </a:endParaRPr>
          </a:p>
          <a:p>
            <a:pPr marL="5080" algn="ctr">
              <a:lnSpc>
                <a:spcPct val="100000"/>
              </a:lnSpc>
              <a:spcBef>
                <a:spcPts val="730"/>
              </a:spcBef>
            </a:pPr>
            <a:r>
              <a:rPr lang="en-US" altLang="ko-KR" sz="2800" spc="-30" dirty="0">
                <a:solidFill>
                  <a:srgbClr val="FFFFFF"/>
                </a:solidFill>
                <a:latin typeface="Adobe Gothic Std L"/>
                <a:cs typeface="Adobe Gothic Std L"/>
              </a:rPr>
              <a:t> </a:t>
            </a:r>
          </a:p>
          <a:p>
            <a:pPr marL="5080" algn="ctr">
              <a:lnSpc>
                <a:spcPct val="100000"/>
              </a:lnSpc>
              <a:spcBef>
                <a:spcPts val="730"/>
              </a:spcBef>
            </a:pPr>
            <a:r>
              <a:rPr lang="ko-KR" altLang="en-US" sz="2800" spc="-30" dirty="0">
                <a:solidFill>
                  <a:srgbClr val="FFFFFF"/>
                </a:solidFill>
                <a:latin typeface="Adobe Gothic Std L"/>
                <a:cs typeface="Adobe Gothic Std L"/>
              </a:rPr>
              <a:t>   </a:t>
            </a:r>
            <a:r>
              <a:rPr sz="2800" b="0" spc="-25" dirty="0">
                <a:solidFill>
                  <a:srgbClr val="FFFFFF"/>
                </a:solidFill>
                <a:latin typeface="Adobe Gothic Std L"/>
                <a:cs typeface="Adobe Gothic Std L"/>
              </a:rPr>
              <a:t> </a:t>
            </a:r>
            <a:r>
              <a:rPr lang="ko-KR" altLang="en-US" sz="2800" spc="-125" dirty="0">
                <a:solidFill>
                  <a:srgbClr val="C19A82"/>
                </a:solidFill>
                <a:latin typeface="Calibri"/>
                <a:cs typeface="Calibri"/>
              </a:rPr>
              <a:t> 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1940" y="7425382"/>
            <a:ext cx="4032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0" spc="-20" dirty="0">
                <a:solidFill>
                  <a:srgbClr val="9A95A2"/>
                </a:solidFill>
                <a:latin typeface="Adobe Gothic Std L"/>
                <a:cs typeface="Adobe Gothic Std L"/>
              </a:rPr>
              <a:t>2022/06</a:t>
            </a:r>
            <a:endParaRPr sz="800">
              <a:latin typeface="Adobe Gothic Std L"/>
              <a:cs typeface="Adobe Gothic Std 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18766" y="3020578"/>
            <a:ext cx="5699734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034" algn="l"/>
                <a:tab pos="829944" algn="l"/>
                <a:tab pos="1224915" algn="l"/>
                <a:tab pos="1656714" algn="l"/>
                <a:tab pos="2119630" algn="l"/>
                <a:tab pos="2530475" algn="l"/>
                <a:tab pos="2849880" algn="l"/>
                <a:tab pos="3282950" algn="l"/>
              </a:tabLst>
            </a:pPr>
            <a:r>
              <a:rPr lang="en-US" sz="3500" spc="-409" dirty="0">
                <a:solidFill>
                  <a:srgbClr val="C19A82"/>
                </a:solidFill>
                <a:latin typeface="Calibri"/>
                <a:cs typeface="Calibri"/>
              </a:rPr>
              <a:t>  </a:t>
            </a:r>
            <a:r>
              <a:rPr lang="ko-KR" altLang="en-US" sz="3500" spc="-409" dirty="0">
                <a:solidFill>
                  <a:srgbClr val="C19A82"/>
                </a:solidFill>
                <a:latin typeface="Calibri"/>
                <a:cs typeface="Calibri"/>
              </a:rPr>
              <a:t>            ㈜ 펫 앤</a:t>
            </a:r>
            <a:r>
              <a:rPr lang="en-US" altLang="ko-KR" sz="3500" spc="-409" dirty="0">
                <a:solidFill>
                  <a:srgbClr val="C19A82"/>
                </a:solidFill>
                <a:latin typeface="Calibri"/>
                <a:cs typeface="Calibri"/>
              </a:rPr>
              <a:t>  </a:t>
            </a:r>
            <a:r>
              <a:rPr lang="ko-KR" altLang="en-US" sz="3500" spc="-409" dirty="0">
                <a:solidFill>
                  <a:srgbClr val="C19A82"/>
                </a:solidFill>
                <a:latin typeface="Calibri"/>
                <a:cs typeface="Calibri"/>
              </a:rPr>
              <a:t> </a:t>
            </a:r>
            <a:r>
              <a:rPr lang="en-US" altLang="ko-KR" sz="3500" spc="-409" dirty="0">
                <a:solidFill>
                  <a:srgbClr val="C19A82"/>
                </a:solidFill>
                <a:latin typeface="Calibri"/>
                <a:cs typeface="Calibri"/>
              </a:rPr>
              <a:t>24</a:t>
            </a:r>
            <a:r>
              <a:rPr lang="ko-KR" altLang="en-US" sz="3500" spc="-409" dirty="0">
                <a:solidFill>
                  <a:srgbClr val="C19A82"/>
                </a:solidFill>
                <a:latin typeface="Calibri"/>
                <a:cs typeface="Calibri"/>
              </a:rPr>
              <a:t> </a:t>
            </a:r>
            <a:br>
              <a:rPr lang="en-US" altLang="ko-KR" sz="3500" spc="-409" dirty="0">
                <a:solidFill>
                  <a:srgbClr val="C19A82"/>
                </a:solidFill>
                <a:latin typeface="Calibri"/>
                <a:cs typeface="Calibri"/>
              </a:rPr>
            </a:br>
            <a:r>
              <a:rPr lang="en-US" altLang="ko-KR" sz="3500" spc="-409" dirty="0">
                <a:solidFill>
                  <a:srgbClr val="C19A82"/>
                </a:solidFill>
                <a:latin typeface="Calibri"/>
                <a:cs typeface="Calibri"/>
              </a:rPr>
              <a:t>              WWW.</a:t>
            </a:r>
            <a:r>
              <a:rPr lang="ko-KR" altLang="en-US" sz="3500" spc="-409" dirty="0">
                <a:solidFill>
                  <a:srgbClr val="C19A82"/>
                </a:solidFill>
                <a:latin typeface="Calibri"/>
                <a:cs typeface="Calibri"/>
              </a:rPr>
              <a:t> </a:t>
            </a:r>
            <a:r>
              <a:rPr lang="en-US" altLang="ko-KR" sz="3500" spc="-409" dirty="0">
                <a:solidFill>
                  <a:srgbClr val="C19A82"/>
                </a:solidFill>
                <a:latin typeface="Calibri"/>
                <a:cs typeface="Calibri"/>
              </a:rPr>
              <a:t>P ET</a:t>
            </a:r>
            <a:r>
              <a:rPr lang="ko-KR" altLang="en-US" sz="3500" spc="-409" dirty="0">
                <a:solidFill>
                  <a:srgbClr val="C19A82"/>
                </a:solidFill>
                <a:latin typeface="Calibri"/>
                <a:cs typeface="Calibri"/>
              </a:rPr>
              <a:t> </a:t>
            </a:r>
            <a:r>
              <a:rPr lang="en-US" altLang="ko-KR" sz="3500" spc="-409" dirty="0">
                <a:solidFill>
                  <a:srgbClr val="C19A82"/>
                </a:solidFill>
                <a:latin typeface="Calibri"/>
                <a:cs typeface="Calibri"/>
              </a:rPr>
              <a:t>N</a:t>
            </a:r>
            <a:r>
              <a:rPr lang="ko-KR" altLang="en-US" sz="3500" spc="-409" dirty="0">
                <a:solidFill>
                  <a:srgbClr val="C19A82"/>
                </a:solidFill>
                <a:latin typeface="Calibri"/>
                <a:cs typeface="Calibri"/>
              </a:rPr>
              <a:t> </a:t>
            </a:r>
            <a:r>
              <a:rPr lang="en-US" altLang="ko-KR" sz="3500" spc="-409" dirty="0">
                <a:solidFill>
                  <a:srgbClr val="C19A82"/>
                </a:solidFill>
                <a:latin typeface="Calibri"/>
                <a:cs typeface="Calibri"/>
              </a:rPr>
              <a:t>  24</a:t>
            </a:r>
            <a:endParaRPr sz="35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51049" y="3132007"/>
            <a:ext cx="0" cy="467995"/>
          </a:xfrm>
          <a:custGeom>
            <a:avLst/>
            <a:gdLst/>
            <a:ahLst/>
            <a:cxnLst/>
            <a:rect l="l" t="t" r="r" b="b"/>
            <a:pathLst>
              <a:path h="467995">
                <a:moveTo>
                  <a:pt x="0" y="467995"/>
                </a:moveTo>
                <a:lnTo>
                  <a:pt x="0" y="0"/>
                </a:lnTo>
              </a:path>
            </a:pathLst>
          </a:custGeom>
          <a:ln w="12700">
            <a:solidFill>
              <a:srgbClr val="C19A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40950" y="3132007"/>
            <a:ext cx="0" cy="467995"/>
          </a:xfrm>
          <a:custGeom>
            <a:avLst/>
            <a:gdLst/>
            <a:ahLst/>
            <a:cxnLst/>
            <a:rect l="l" t="t" r="r" b="b"/>
            <a:pathLst>
              <a:path h="467995">
                <a:moveTo>
                  <a:pt x="0" y="467995"/>
                </a:moveTo>
                <a:lnTo>
                  <a:pt x="0" y="0"/>
                </a:lnTo>
              </a:path>
            </a:pathLst>
          </a:custGeom>
          <a:ln w="12700">
            <a:solidFill>
              <a:srgbClr val="C19A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EBE19138-53EF-8088-906D-85860B8BB3D6}"/>
              </a:ext>
            </a:extLst>
          </p:cNvPr>
          <p:cNvCxnSpPr/>
          <p:nvPr/>
        </p:nvCxnSpPr>
        <p:spPr>
          <a:xfrm flipV="1">
            <a:off x="1472791" y="2214362"/>
            <a:ext cx="0" cy="284898"/>
          </a:xfrm>
          <a:prstGeom prst="line">
            <a:avLst/>
          </a:prstGeom>
          <a:ln w="57150">
            <a:solidFill>
              <a:srgbClr val="2358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EB10D34C-6919-0407-8771-0C21007657CC}"/>
              </a:ext>
            </a:extLst>
          </p:cNvPr>
          <p:cNvCxnSpPr/>
          <p:nvPr/>
        </p:nvCxnSpPr>
        <p:spPr>
          <a:xfrm flipV="1">
            <a:off x="3409746" y="2214362"/>
            <a:ext cx="0" cy="284898"/>
          </a:xfrm>
          <a:prstGeom prst="line">
            <a:avLst/>
          </a:prstGeom>
          <a:ln w="57150">
            <a:solidFill>
              <a:srgbClr val="2358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7FABFBF5-C00C-27E9-2A36-3F2A2D2F8320}"/>
              </a:ext>
            </a:extLst>
          </p:cNvPr>
          <p:cNvCxnSpPr/>
          <p:nvPr/>
        </p:nvCxnSpPr>
        <p:spPr>
          <a:xfrm flipV="1">
            <a:off x="7283655" y="2214362"/>
            <a:ext cx="0" cy="284898"/>
          </a:xfrm>
          <a:prstGeom prst="line">
            <a:avLst/>
          </a:prstGeom>
          <a:ln w="57150">
            <a:solidFill>
              <a:srgbClr val="2358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455A938F-DFB2-69C5-9842-841556C613E8}"/>
              </a:ext>
            </a:extLst>
          </p:cNvPr>
          <p:cNvCxnSpPr/>
          <p:nvPr/>
        </p:nvCxnSpPr>
        <p:spPr>
          <a:xfrm flipV="1">
            <a:off x="9220609" y="2214362"/>
            <a:ext cx="0" cy="284898"/>
          </a:xfrm>
          <a:prstGeom prst="line">
            <a:avLst/>
          </a:prstGeom>
          <a:ln w="57150">
            <a:solidFill>
              <a:srgbClr val="2358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모서리가 둥근 직사각형 225">
            <a:extLst>
              <a:ext uri="{FF2B5EF4-FFF2-40B4-BE49-F238E27FC236}">
                <a16:creationId xmlns:a16="http://schemas.microsoft.com/office/drawing/2014/main" id="{949F568C-96CF-5C33-3098-25D9A7E7C0B5}"/>
              </a:ext>
            </a:extLst>
          </p:cNvPr>
          <p:cNvSpPr/>
          <p:nvPr/>
        </p:nvSpPr>
        <p:spPr>
          <a:xfrm>
            <a:off x="661099" y="2431171"/>
            <a:ext cx="1625178" cy="528587"/>
          </a:xfrm>
          <a:prstGeom prst="roundRect">
            <a:avLst/>
          </a:prstGeom>
          <a:solidFill>
            <a:srgbClr val="23588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rgbClr val="8DE2F6"/>
                </a:solidFill>
                <a:latin typeface="나눔고딕"/>
              </a:rPr>
              <a:t>응급센터</a:t>
            </a:r>
            <a:r>
              <a:rPr lang="en-US" altLang="ko-KR" sz="1354" dirty="0">
                <a:solidFill>
                  <a:srgbClr val="8DE2F6"/>
                </a:solidFill>
                <a:latin typeface="나눔고딕"/>
              </a:rPr>
              <a:t> 24</a:t>
            </a:r>
            <a:r>
              <a:rPr lang="ko-KR" altLang="en-US" sz="1354" dirty="0">
                <a:solidFill>
                  <a:srgbClr val="8DE2F6"/>
                </a:solidFill>
                <a:latin typeface="나눔고딕"/>
              </a:rPr>
              <a:t>        </a:t>
            </a:r>
          </a:p>
        </p:txBody>
      </p:sp>
      <p:sp>
        <p:nvSpPr>
          <p:cNvPr id="231" name="모서리가 둥근 직사각형 230">
            <a:extLst>
              <a:ext uri="{FF2B5EF4-FFF2-40B4-BE49-F238E27FC236}">
                <a16:creationId xmlns:a16="http://schemas.microsoft.com/office/drawing/2014/main" id="{B6286273-AF5B-16D7-A968-E67F2836B1CC}"/>
              </a:ext>
            </a:extLst>
          </p:cNvPr>
          <p:cNvSpPr/>
          <p:nvPr/>
        </p:nvSpPr>
        <p:spPr>
          <a:xfrm>
            <a:off x="2598053" y="2431171"/>
            <a:ext cx="1625179" cy="528587"/>
          </a:xfrm>
          <a:prstGeom prst="roundRect">
            <a:avLst/>
          </a:prstGeom>
          <a:solidFill>
            <a:srgbClr val="23588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rgbClr val="8DE2F6"/>
                </a:solidFill>
                <a:latin typeface="나눔고딕"/>
              </a:rPr>
              <a:t>동물병원 예약    </a:t>
            </a:r>
            <a:endParaRPr lang="en-US" altLang="ko-KR" sz="1354" dirty="0">
              <a:solidFill>
                <a:srgbClr val="8DE2F6"/>
              </a:solidFill>
              <a:latin typeface="나눔고딕"/>
            </a:endParaRPr>
          </a:p>
        </p:txBody>
      </p:sp>
      <p:sp>
        <p:nvSpPr>
          <p:cNvPr id="241" name="모서리가 둥근 직사각형 240">
            <a:extLst>
              <a:ext uri="{FF2B5EF4-FFF2-40B4-BE49-F238E27FC236}">
                <a16:creationId xmlns:a16="http://schemas.microsoft.com/office/drawing/2014/main" id="{4D7E8C26-A25A-9D44-7072-F057AB017A46}"/>
              </a:ext>
            </a:extLst>
          </p:cNvPr>
          <p:cNvSpPr/>
          <p:nvPr/>
        </p:nvSpPr>
        <p:spPr>
          <a:xfrm>
            <a:off x="6470170" y="2431171"/>
            <a:ext cx="1625178" cy="528587"/>
          </a:xfrm>
          <a:prstGeom prst="roundRect">
            <a:avLst/>
          </a:prstGeom>
          <a:solidFill>
            <a:srgbClr val="23588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 err="1">
                <a:solidFill>
                  <a:srgbClr val="8DE2F6"/>
                </a:solidFill>
                <a:latin typeface="나눔고딕"/>
              </a:rPr>
              <a:t>돌봄호텔</a:t>
            </a:r>
            <a:r>
              <a:rPr lang="ko-KR" altLang="en-US" sz="1354" dirty="0">
                <a:solidFill>
                  <a:srgbClr val="8DE2F6"/>
                </a:solidFill>
                <a:latin typeface="나눔고딕"/>
              </a:rPr>
              <a:t> 예약           </a:t>
            </a:r>
            <a:endParaRPr lang="en-US" altLang="ko-KR" sz="1354" dirty="0">
              <a:solidFill>
                <a:srgbClr val="8DE2F6"/>
              </a:solidFill>
              <a:latin typeface="나눔고딕"/>
            </a:endParaRPr>
          </a:p>
        </p:txBody>
      </p:sp>
      <p:sp>
        <p:nvSpPr>
          <p:cNvPr id="244" name="모서리가 둥근 직사각형 243">
            <a:extLst>
              <a:ext uri="{FF2B5EF4-FFF2-40B4-BE49-F238E27FC236}">
                <a16:creationId xmlns:a16="http://schemas.microsoft.com/office/drawing/2014/main" id="{7D4B7D2A-4457-A6AE-5463-573DF540A168}"/>
              </a:ext>
            </a:extLst>
          </p:cNvPr>
          <p:cNvSpPr/>
          <p:nvPr/>
        </p:nvSpPr>
        <p:spPr>
          <a:xfrm>
            <a:off x="8445921" y="2418629"/>
            <a:ext cx="1625179" cy="528585"/>
          </a:xfrm>
          <a:prstGeom prst="roundRect">
            <a:avLst/>
          </a:prstGeom>
          <a:solidFill>
            <a:srgbClr val="23588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rgbClr val="8DE2F6"/>
                </a:solidFill>
                <a:latin typeface="나눔고딕"/>
              </a:rPr>
              <a:t>장례지원</a:t>
            </a:r>
            <a:r>
              <a:rPr lang="en-US" altLang="ko-KR" sz="1354" dirty="0">
                <a:solidFill>
                  <a:srgbClr val="8DE2F6"/>
                </a:solidFill>
                <a:latin typeface="나눔고딕"/>
              </a:rPr>
              <a:t>24</a:t>
            </a:r>
            <a:r>
              <a:rPr lang="ko-KR" altLang="en-US" sz="1354" dirty="0">
                <a:solidFill>
                  <a:srgbClr val="8DE2F6"/>
                </a:solidFill>
                <a:latin typeface="나눔고딕"/>
              </a:rPr>
              <a:t>      </a:t>
            </a:r>
          </a:p>
        </p:txBody>
      </p: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D3D19607-94CA-0690-4B2D-D4D657FCDA6D}"/>
              </a:ext>
            </a:extLst>
          </p:cNvPr>
          <p:cNvCxnSpPr/>
          <p:nvPr/>
        </p:nvCxnSpPr>
        <p:spPr>
          <a:xfrm flipV="1">
            <a:off x="1436956" y="2174023"/>
            <a:ext cx="7815906" cy="0"/>
          </a:xfrm>
          <a:prstGeom prst="line">
            <a:avLst/>
          </a:prstGeom>
          <a:ln w="57150">
            <a:solidFill>
              <a:srgbClr val="2358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타원 250">
            <a:extLst>
              <a:ext uri="{FF2B5EF4-FFF2-40B4-BE49-F238E27FC236}">
                <a16:creationId xmlns:a16="http://schemas.microsoft.com/office/drawing/2014/main" id="{812C4AFB-366D-CF83-38AE-594315A9907C}"/>
              </a:ext>
            </a:extLst>
          </p:cNvPr>
          <p:cNvSpPr/>
          <p:nvPr/>
        </p:nvSpPr>
        <p:spPr>
          <a:xfrm>
            <a:off x="2990461" y="1024920"/>
            <a:ext cx="4631847" cy="731061"/>
          </a:xfrm>
          <a:prstGeom prst="ellipse">
            <a:avLst/>
          </a:prstGeom>
          <a:solidFill>
            <a:srgbClr val="23588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257" b="1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11282" name="제목 3">
            <a:extLst>
              <a:ext uri="{FF2B5EF4-FFF2-40B4-BE49-F238E27FC236}">
                <a16:creationId xmlns:a16="http://schemas.microsoft.com/office/drawing/2014/main" id="{012D95DD-5A49-6B54-851E-CDDCE5CD3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478" y="1107480"/>
            <a:ext cx="1057982" cy="347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2257" b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Verdana" panose="020B0604030504040204" pitchFamily="34" charset="0"/>
              </a:rPr>
              <a:t>펫앤</a:t>
            </a:r>
            <a:r>
              <a:rPr lang="en-US" altLang="ko-KR" sz="2257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Verdana" panose="020B0604030504040204" pitchFamily="34" charset="0"/>
              </a:rPr>
              <a:t>24</a:t>
            </a:r>
            <a:r>
              <a:rPr lang="ko-KR" altLang="en-US" sz="2257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Verdana" panose="020B0604030504040204" pitchFamily="34" charset="0"/>
              </a:rPr>
              <a:t>  </a:t>
            </a:r>
            <a:endParaRPr lang="en-US" altLang="ko-KR" sz="2257" b="1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Verdana" panose="020B060403050404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0D8AFBC-288C-4278-F656-5EFADDB3E01D}"/>
              </a:ext>
            </a:extLst>
          </p:cNvPr>
          <p:cNvSpPr/>
          <p:nvPr/>
        </p:nvSpPr>
        <p:spPr>
          <a:xfrm>
            <a:off x="0" y="0"/>
            <a:ext cx="10693397" cy="946079"/>
          </a:xfrm>
          <a:prstGeom prst="rect">
            <a:avLst/>
          </a:prstGeom>
          <a:solidFill>
            <a:srgbClr val="4D9B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ko-KR" altLang="en-US" sz="2709" b="1" dirty="0">
                <a:solidFill>
                  <a:schemeClr val="tx1"/>
                </a:solidFill>
              </a:rPr>
              <a:t>  </a:t>
            </a:r>
            <a:r>
              <a:rPr lang="ko-KR" altLang="en-US" sz="2709" b="1" dirty="0" err="1">
                <a:solidFill>
                  <a:schemeClr val="tx1"/>
                </a:solidFill>
              </a:rPr>
              <a:t>펫앤</a:t>
            </a:r>
            <a:r>
              <a:rPr lang="en-US" altLang="ko-KR" sz="2709" b="1" dirty="0">
                <a:solidFill>
                  <a:schemeClr val="tx1"/>
                </a:solidFill>
              </a:rPr>
              <a:t>24</a:t>
            </a:r>
            <a:r>
              <a:rPr lang="ko-KR" altLang="en-US" sz="2709" b="1" dirty="0">
                <a:solidFill>
                  <a:schemeClr val="tx1"/>
                </a:solidFill>
              </a:rPr>
              <a:t>   메인 페이지 카테고리           </a:t>
            </a:r>
          </a:p>
        </p:txBody>
      </p:sp>
      <p:sp>
        <p:nvSpPr>
          <p:cNvPr id="124" name="모서리가 둥근 직사각형 123">
            <a:extLst>
              <a:ext uri="{FF2B5EF4-FFF2-40B4-BE49-F238E27FC236}">
                <a16:creationId xmlns:a16="http://schemas.microsoft.com/office/drawing/2014/main" id="{BDE3CC62-B18B-E99B-EFC3-89D4C630BEE4}"/>
              </a:ext>
            </a:extLst>
          </p:cNvPr>
          <p:cNvSpPr/>
          <p:nvPr/>
        </p:nvSpPr>
        <p:spPr>
          <a:xfrm>
            <a:off x="6576880" y="3178095"/>
            <a:ext cx="1420910" cy="86253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돌봄 호텔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픽업 예약  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02CD8CA8-DDD2-DE1E-13A8-3A885B84D692}"/>
              </a:ext>
            </a:extLst>
          </p:cNvPr>
          <p:cNvSpPr/>
          <p:nvPr/>
        </p:nvSpPr>
        <p:spPr>
          <a:xfrm>
            <a:off x="8521799" y="3169360"/>
            <a:ext cx="1462123" cy="131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반려동물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장례대행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 err="1">
                <a:solidFill>
                  <a:schemeClr val="tx1"/>
                </a:solidFill>
                <a:latin typeface="나눔고딕"/>
              </a:rPr>
              <a:t>토탈케어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지원서비스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요청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AB6A571-E1F0-1224-994D-1D0F3BFA6CFA}"/>
              </a:ext>
            </a:extLst>
          </p:cNvPr>
          <p:cNvSpPr/>
          <p:nvPr/>
        </p:nvSpPr>
        <p:spPr>
          <a:xfrm>
            <a:off x="7968128" y="1150345"/>
            <a:ext cx="807571" cy="5644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고객</a:t>
            </a:r>
            <a:endParaRPr lang="en-US" altLang="ko-KR" sz="1000" dirty="0"/>
          </a:p>
          <a:p>
            <a:pPr algn="ctr"/>
            <a:r>
              <a:rPr lang="ko-KR" altLang="en-US" sz="1000" dirty="0"/>
              <a:t>센터 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B3A84C0-8456-5A3F-6F8B-0374785CFADE}"/>
              </a:ext>
            </a:extLst>
          </p:cNvPr>
          <p:cNvSpPr/>
          <p:nvPr/>
        </p:nvSpPr>
        <p:spPr>
          <a:xfrm>
            <a:off x="8849076" y="1145110"/>
            <a:ext cx="807571" cy="5644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로그인  </a:t>
            </a:r>
          </a:p>
        </p:txBody>
      </p:sp>
      <p:sp>
        <p:nvSpPr>
          <p:cNvPr id="250" name="모서리가 둥근 직사각형 139">
            <a:extLst>
              <a:ext uri="{FF2B5EF4-FFF2-40B4-BE49-F238E27FC236}">
                <a16:creationId xmlns:a16="http://schemas.microsoft.com/office/drawing/2014/main" id="{31A55178-B65F-E3F0-36E2-BF26AE7D94CB}"/>
              </a:ext>
            </a:extLst>
          </p:cNvPr>
          <p:cNvSpPr/>
          <p:nvPr/>
        </p:nvSpPr>
        <p:spPr>
          <a:xfrm>
            <a:off x="6565900" y="4317079"/>
            <a:ext cx="1420912" cy="489166"/>
          </a:xfrm>
          <a:prstGeom prst="roundRect">
            <a:avLst/>
          </a:prstGeom>
          <a:solidFill>
            <a:schemeClr val="accent5"/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인천공항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sp>
        <p:nvSpPr>
          <p:cNvPr id="33" name="모서리가 둥근 직사각형 231">
            <a:extLst>
              <a:ext uri="{FF2B5EF4-FFF2-40B4-BE49-F238E27FC236}">
                <a16:creationId xmlns:a16="http://schemas.microsoft.com/office/drawing/2014/main" id="{800D586F-ABC4-F288-3871-B9E92F1E40D8}"/>
              </a:ext>
            </a:extLst>
          </p:cNvPr>
          <p:cNvSpPr/>
          <p:nvPr/>
        </p:nvSpPr>
        <p:spPr>
          <a:xfrm>
            <a:off x="782046" y="3148474"/>
            <a:ext cx="1381490" cy="14388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반려 동물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24</a:t>
            </a: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시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응급센터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긴급 이송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BD24C0BB-C3B4-D607-58AA-059AF9085BE7}"/>
              </a:ext>
            </a:extLst>
          </p:cNvPr>
          <p:cNvCxnSpPr>
            <a:cxnSpLocks/>
            <a:stCxn id="124" idx="1"/>
            <a:endCxn id="250" idx="1"/>
          </p:cNvCxnSpPr>
          <p:nvPr/>
        </p:nvCxnSpPr>
        <p:spPr>
          <a:xfrm rot="10800000" flipV="1">
            <a:off x="6565900" y="3609360"/>
            <a:ext cx="10980" cy="952301"/>
          </a:xfrm>
          <a:prstGeom prst="bentConnector3">
            <a:avLst>
              <a:gd name="adj1" fmla="val 21819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140">
            <a:extLst>
              <a:ext uri="{FF2B5EF4-FFF2-40B4-BE49-F238E27FC236}">
                <a16:creationId xmlns:a16="http://schemas.microsoft.com/office/drawing/2014/main" id="{9F2E9F7A-6463-6D6D-F064-CEEA30E7BEBE}"/>
              </a:ext>
            </a:extLst>
          </p:cNvPr>
          <p:cNvSpPr/>
          <p:nvPr/>
        </p:nvSpPr>
        <p:spPr>
          <a:xfrm>
            <a:off x="6565900" y="4896767"/>
            <a:ext cx="1383283" cy="488083"/>
          </a:xfrm>
          <a:prstGeom prst="roundRect">
            <a:avLst/>
          </a:prstGeom>
          <a:solidFill>
            <a:schemeClr val="accent5"/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>
                <a:solidFill>
                  <a:schemeClr val="tx1"/>
                </a:solidFill>
                <a:latin typeface="나눔고딕"/>
              </a:rPr>
              <a:t>김포공항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sp>
        <p:nvSpPr>
          <p:cNvPr id="12" name="모서리가 둥근 직사각형 139">
            <a:extLst>
              <a:ext uri="{FF2B5EF4-FFF2-40B4-BE49-F238E27FC236}">
                <a16:creationId xmlns:a16="http://schemas.microsoft.com/office/drawing/2014/main" id="{68683C83-724E-E586-A006-EFA6B5918666}"/>
              </a:ext>
            </a:extLst>
          </p:cNvPr>
          <p:cNvSpPr/>
          <p:nvPr/>
        </p:nvSpPr>
        <p:spPr>
          <a:xfrm>
            <a:off x="2622263" y="4165650"/>
            <a:ext cx="1420912" cy="90534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반려동물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입원</a:t>
            </a: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,</a:t>
            </a: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퇴원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픽업 대행 서비스 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sp>
        <p:nvSpPr>
          <p:cNvPr id="10" name="모서리가 둥근 직사각형 231">
            <a:extLst>
              <a:ext uri="{FF2B5EF4-FFF2-40B4-BE49-F238E27FC236}">
                <a16:creationId xmlns:a16="http://schemas.microsoft.com/office/drawing/2014/main" id="{DC85BE1B-4317-4933-1586-53B96267037D}"/>
              </a:ext>
            </a:extLst>
          </p:cNvPr>
          <p:cNvSpPr/>
          <p:nvPr/>
        </p:nvSpPr>
        <p:spPr>
          <a:xfrm>
            <a:off x="2624056" y="3098850"/>
            <a:ext cx="1381490" cy="90534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동물병원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예약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92CA7B7-AA47-CB50-A506-AA9EBA58E01E}"/>
              </a:ext>
            </a:extLst>
          </p:cNvPr>
          <p:cNvSpPr/>
          <p:nvPr/>
        </p:nvSpPr>
        <p:spPr>
          <a:xfrm>
            <a:off x="1315977" y="1090554"/>
            <a:ext cx="807571" cy="5644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회원</a:t>
            </a:r>
            <a:endParaRPr lang="en-US" altLang="ko-KR" sz="1000" dirty="0"/>
          </a:p>
          <a:p>
            <a:pPr algn="ctr"/>
            <a:r>
              <a:rPr lang="ko-KR" altLang="en-US" sz="1000" dirty="0"/>
              <a:t>가입  </a:t>
            </a:r>
          </a:p>
        </p:txBody>
      </p:sp>
      <p:sp>
        <p:nvSpPr>
          <p:cNvPr id="3" name="모서리가 둥근 직사각형 140">
            <a:extLst>
              <a:ext uri="{FF2B5EF4-FFF2-40B4-BE49-F238E27FC236}">
                <a16:creationId xmlns:a16="http://schemas.microsoft.com/office/drawing/2014/main" id="{1853AB1D-95C8-AF90-8AD2-038CEB24482A}"/>
              </a:ext>
            </a:extLst>
          </p:cNvPr>
          <p:cNvSpPr/>
          <p:nvPr/>
        </p:nvSpPr>
        <p:spPr>
          <a:xfrm>
            <a:off x="6603529" y="5495940"/>
            <a:ext cx="1383283" cy="488083"/>
          </a:xfrm>
          <a:prstGeom prst="roundRect">
            <a:avLst/>
          </a:prstGeom>
          <a:solidFill>
            <a:schemeClr val="accent5"/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청주공항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sp>
        <p:nvSpPr>
          <p:cNvPr id="8" name="모서리가 둥근 직사각형 139">
            <a:extLst>
              <a:ext uri="{FF2B5EF4-FFF2-40B4-BE49-F238E27FC236}">
                <a16:creationId xmlns:a16="http://schemas.microsoft.com/office/drawing/2014/main" id="{25932AAF-3B8E-5E21-7510-C247BE87F496}"/>
              </a:ext>
            </a:extLst>
          </p:cNvPr>
          <p:cNvSpPr/>
          <p:nvPr/>
        </p:nvSpPr>
        <p:spPr>
          <a:xfrm>
            <a:off x="8497788" y="4774279"/>
            <a:ext cx="1420912" cy="489166"/>
          </a:xfrm>
          <a:prstGeom prst="roundRect">
            <a:avLst/>
          </a:prstGeom>
          <a:solidFill>
            <a:schemeClr val="accent5"/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사망진단서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발급대행 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sp>
        <p:nvSpPr>
          <p:cNvPr id="13" name="모서리가 둥근 직사각형 140">
            <a:extLst>
              <a:ext uri="{FF2B5EF4-FFF2-40B4-BE49-F238E27FC236}">
                <a16:creationId xmlns:a16="http://schemas.microsoft.com/office/drawing/2014/main" id="{0998BD4C-807A-98C7-84B0-5489D8A6AB93}"/>
              </a:ext>
            </a:extLst>
          </p:cNvPr>
          <p:cNvSpPr/>
          <p:nvPr/>
        </p:nvSpPr>
        <p:spPr>
          <a:xfrm>
            <a:off x="8497788" y="5353967"/>
            <a:ext cx="1383283" cy="2097758"/>
          </a:xfrm>
          <a:prstGeom prst="roundRect">
            <a:avLst/>
          </a:prstGeom>
          <a:solidFill>
            <a:schemeClr val="accent5"/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차량지원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+</a:t>
            </a: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장례식 지원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(</a:t>
            </a: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화장장</a:t>
            </a: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)</a:t>
            </a: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+</a:t>
            </a: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납골 지원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(</a:t>
            </a: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안산</a:t>
            </a: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, </a:t>
            </a: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인천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해양 </a:t>
            </a:r>
            <a:r>
              <a:rPr lang="ko-KR" altLang="en-US" sz="1354" dirty="0" err="1">
                <a:solidFill>
                  <a:schemeClr val="tx1"/>
                </a:solidFill>
                <a:latin typeface="나눔고딕"/>
              </a:rPr>
              <a:t>바다장</a:t>
            </a: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)</a:t>
            </a: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23DFB4A-6F74-79B8-516A-564630DC5AD0}"/>
              </a:ext>
            </a:extLst>
          </p:cNvPr>
          <p:cNvCxnSpPr/>
          <p:nvPr/>
        </p:nvCxnSpPr>
        <p:spPr>
          <a:xfrm flipV="1">
            <a:off x="5346700" y="1812925"/>
            <a:ext cx="0" cy="284898"/>
          </a:xfrm>
          <a:prstGeom prst="line">
            <a:avLst/>
          </a:prstGeom>
          <a:ln w="57150">
            <a:solidFill>
              <a:srgbClr val="2358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6A71BE5-1245-C687-C3E5-54AFC110E2AB}"/>
              </a:ext>
            </a:extLst>
          </p:cNvPr>
          <p:cNvCxnSpPr/>
          <p:nvPr/>
        </p:nvCxnSpPr>
        <p:spPr>
          <a:xfrm flipV="1">
            <a:off x="5371414" y="2193925"/>
            <a:ext cx="0" cy="284898"/>
          </a:xfrm>
          <a:prstGeom prst="line">
            <a:avLst/>
          </a:prstGeom>
          <a:ln w="57150">
            <a:solidFill>
              <a:srgbClr val="2358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230">
            <a:extLst>
              <a:ext uri="{FF2B5EF4-FFF2-40B4-BE49-F238E27FC236}">
                <a16:creationId xmlns:a16="http://schemas.microsoft.com/office/drawing/2014/main" id="{BEFCE875-22B0-D77F-FBAF-606B96B9F38C}"/>
              </a:ext>
            </a:extLst>
          </p:cNvPr>
          <p:cNvSpPr/>
          <p:nvPr/>
        </p:nvSpPr>
        <p:spPr>
          <a:xfrm>
            <a:off x="4559721" y="2410734"/>
            <a:ext cx="1625179" cy="528587"/>
          </a:xfrm>
          <a:prstGeom prst="roundRect">
            <a:avLst/>
          </a:prstGeom>
          <a:solidFill>
            <a:srgbClr val="23588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 err="1">
                <a:solidFill>
                  <a:srgbClr val="8DE2F6"/>
                </a:solidFill>
                <a:latin typeface="나눔고딕"/>
              </a:rPr>
              <a:t>펫보험</a:t>
            </a:r>
            <a:r>
              <a:rPr lang="ko-KR" altLang="en-US" sz="1354" dirty="0">
                <a:solidFill>
                  <a:srgbClr val="8DE2F6"/>
                </a:solidFill>
                <a:latin typeface="나눔고딕"/>
              </a:rPr>
              <a:t> 상담     </a:t>
            </a:r>
            <a:endParaRPr lang="en-US" altLang="ko-KR" sz="1354" dirty="0">
              <a:solidFill>
                <a:srgbClr val="8DE2F6"/>
              </a:solidFill>
              <a:latin typeface="나눔고딕"/>
            </a:endParaRPr>
          </a:p>
        </p:txBody>
      </p:sp>
      <p:sp>
        <p:nvSpPr>
          <p:cNvPr id="22" name="모서리가 둥근 직사각형 231">
            <a:extLst>
              <a:ext uri="{FF2B5EF4-FFF2-40B4-BE49-F238E27FC236}">
                <a16:creationId xmlns:a16="http://schemas.microsoft.com/office/drawing/2014/main" id="{43D9C717-89B5-99B9-ED56-B42D01DFC190}"/>
              </a:ext>
            </a:extLst>
          </p:cNvPr>
          <p:cNvSpPr/>
          <p:nvPr/>
        </p:nvSpPr>
        <p:spPr>
          <a:xfrm>
            <a:off x="4660900" y="3078413"/>
            <a:ext cx="1381490" cy="199258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2358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반려동물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실비보험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상담요청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en-US" altLang="ko-KR" sz="1354" dirty="0">
                <a:solidFill>
                  <a:schemeClr val="tx1"/>
                </a:solidFill>
                <a:latin typeface="나눔고딕"/>
              </a:rPr>
              <a:t>+</a:t>
            </a:r>
          </a:p>
          <a:p>
            <a:pPr algn="ctr">
              <a:defRPr/>
            </a:pPr>
            <a:r>
              <a:rPr lang="ko-KR" altLang="en-US" sz="1354" dirty="0" err="1">
                <a:solidFill>
                  <a:schemeClr val="tx1"/>
                </a:solidFill>
                <a:latin typeface="나눔고딕"/>
              </a:rPr>
              <a:t>펫앤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 err="1">
                <a:solidFill>
                  <a:schemeClr val="tx1"/>
                </a:solidFill>
                <a:latin typeface="나눔고딕"/>
              </a:rPr>
              <a:t>맴버쉽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  <a:p>
            <a:pPr algn="ctr">
              <a:defRPr/>
            </a:pPr>
            <a:r>
              <a:rPr lang="ko-KR" altLang="en-US" sz="1354" dirty="0">
                <a:solidFill>
                  <a:schemeClr val="tx1"/>
                </a:solidFill>
                <a:latin typeface="나눔고딕"/>
              </a:rPr>
              <a:t>가입조건    </a:t>
            </a:r>
            <a:endParaRPr lang="en-US" altLang="ko-KR" sz="1354" dirty="0">
              <a:solidFill>
                <a:schemeClr val="tx1"/>
              </a:solidFill>
              <a:latin typeface="나눔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26455</TotalTime>
  <Words>109</Words>
  <Application>Microsoft Office PowerPoint</Application>
  <PresentationFormat>사용자 지정</PresentationFormat>
  <Paragraphs>56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Adobe Gothic Std B</vt:lpstr>
      <vt:lpstr>Adobe Gothic Std L</vt:lpstr>
      <vt:lpstr>나눔고딕</vt:lpstr>
      <vt:lpstr>나눔고딕 ExtraBold</vt:lpstr>
      <vt:lpstr>맑은 고딕</vt:lpstr>
      <vt:lpstr>Calibri</vt:lpstr>
      <vt:lpstr>Office Theme</vt:lpstr>
      <vt:lpstr>              ㈜ 펫 앤   24                WWW. P ET N   24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X E C U T I V E</dc:title>
  <dc:creator>이창숙</dc:creator>
  <cp:lastModifiedBy>3517</cp:lastModifiedBy>
  <cp:revision>421</cp:revision>
  <dcterms:created xsi:type="dcterms:W3CDTF">2023-03-31T05:46:37Z</dcterms:created>
  <dcterms:modified xsi:type="dcterms:W3CDTF">2025-06-03T03:58:27Z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2022-06-30T00:00:00Z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2023-03-31T00:00:00Z</vt:filetime>
  </property>
  <property fmtid="{D5CDD505-2E9C-101B-9397-08002B2CF9AE}" pid="5" name="Producer">
    <vt:lpwstr>Adobe PDF Library 16.0.3</vt:lpwstr>
  </property>
</Properties>
</file>